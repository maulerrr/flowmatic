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Flowmatic is presented as an evaluated research prototype, not as a production-certified municipal system.
Explain the title, candidate, programme, supervisor, and year. Transition: the defence begins with the operational problem that motivates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Flowmatic addresses the preparation chain, not generic traffic prediction. Explain heterogeneous sources, defects, and the downstream consequence. Limitation: no external accident statistics are used because the thesis evidence is about data preparation and analytics reliability. Transition to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the novelty is framed against nearby systems without pretending they do not exist. Explain the four columns. This pre-empts 'why not pandas, Airflow, MLflow, or AutoML'. Transition to aim and research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the thesis is research because objectives are tested through measurable protocols. State aim in one sentence. Explain object and subject. Transition to novelty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this slide answers 'what is new compared with your prior publication'. Explain that platform concepts are continued, while the defence rests on new evaluation: stress tests, baselines, ablation, routing conformance, and reproducibility. Transition to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design-build-evaluate is made scientific through testable protocols. Walk from literature to artifact to stress tests, baselines, ablations, and reproducibility. Transition to data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trust comes from transparent provenance, not pretending the data are fully public municipal logs. Explain Astana semi-synthetic, HF datasets, simulated feeds, injected anomalies, and rule labels. Transition to DQI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the DQI is an operational adaptation of known data-quality dimensions. Explain six dimensions and the raw-&gt;profile-&gt;DQI-&gt;repair/reject-&gt;prepared-&gt;audit flow. Transition to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this is a real multi-service prototype. Walk left to right: frontend, backend modules, queue/storage/db, simulator, inference, registry. Clarify optional LLM and federated demo are not central evaluated claims. Transition to intelligence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answer 'why intelligent assistant?' precisely. Deterministic checks and rules are legitimate automation; learned components are task-specific. Operator remains in control. Transition to experimental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the split prevents direct row leakage, but n=3 is limited. Say values are multi-seed descriptive variability, not broad statistical significance. Transition to stress test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the best preparation evidence is the stress test, not the clean 100/100 upload. Explain red/green bars and row drops. Scope boundary: row rejection can remove potentially useful rare records. Transition to model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the portfolio is evidence for integrated task slots, not SOTA benchmarking. Mention key comparators and caveats: rule labels, injected anomalies, z-score windows. Transition to ablation.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this is the strongest preparation-to-downstream linkage, but it is not deployable imputation performance. State 'oracle restoration upper-bound' before the examiner does. Transition to implementation/performance.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Flowmatic is real and measurable, but not production certified. Explain the timing boundaries: 406 ms batch processing, TorchScript latency from benchmark, not full wall-clock SLA. Transition to RQ 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this is the defence consolidation slide. Walk each row quickly: supported, evidence, scope limit. Transition to personal contribution and publications.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do not say 'I did everything'. Say exactly what belongs to the thesis: platform integration, scripts, experiments, analysis, and defensible writing. Transition to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finish with the honest thesis-level statement. What was achieved: platform, methodology, evidence, reproducibility. What remains: real external data, independent labels, stronger baselines, operator study, security and scaling validation.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slides only when asked. They are designed to answer the adversarial question bank without overloading the main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DQI definitions and formula. Direct answer: Composite DQI = sum(w_i Q_i) / sum(w_i), Q_i in [0,1]. Default weights are equal. Dimensions: completeness, consistency, accuracy, timeliness, uniqueness, validity.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Clean 100/100 vs stress-test 0.833. Direct answer: Clean batch 100/100 is the platform quality score for a pristine 30,000-row upload. Stress-test 0.833 is the composite formula where timeliness is zero in that generated sample.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Dataset facts. Direct answer: Astana: 30,000 semi-synthetic NDA-derived rows. HF weather, ETT, traffic graph: offline neural bundles. Simulator: HTTP/WebSocket events. Labels and anomalies are generated or injected where stated.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Split, leakage, uncertainty. Direct answer: Temporal 70/15/15 split; scalers fit on training data; three seeds 42, 7, 2026. Treat +/- values as descriptive multi-seed variability, not strong significance testing.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Baseline table. Direct answer: Naive z-RMSE 1.063 vs PatchTST 0.5609; majority 0.317, logistic 0.449, random forest 0.627, Transformer 0.911; mean imputation 1.000 vs SAITS 0.640.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Neural portfolio. Direct answer: Seven primary slots plus auxiliary iTransformer: PatchTST, TranAD, TimesBlock, STGCN, SAITS, Transformer classifier, DLinear, iTransformer speed slot.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iTransformer interpretation. Direct answer: Level-speed RMSE is near 1.0; first-difference retune reaches 0.7586. The slot is retained as auxiliary/deployment parity, not as a headline success.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Routing scope. Direct answer: 140 simulator events: 7 scenarios x 20 events. 100% policy conformance checks implementation consistency against documented scenario oracles; not optimal routing accuracy.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Oracle restoration ablation. Direct answer: 20% corrupted Astana density, PatchTST RMSE 0.9045 -&gt; 0.5802. This is an upper-bound controlled information-recovery experiment, not deployable imputation proof.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Prior publication vs thesis-new. Direct answer: Prior work: concept/platform continuity and co-authored publications. Thesis-new: stress tests, baselines, ablation, 140-event routing check, reproducibility and limitation framing.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Personal contribution matrix. Direct answer: Own work: integration, implementation, scripts, experiments, analysis, defence framing. Shared: supervisor guidance, co-authored papers, public models/libraries, NDA-derived data source.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Technology roles. Direct answer: Vue for workbench; NestJS for API; PostgreSQL for metadata; MinIO for object storage; RabbitMQ for jobs; Python service for TorchScript inference; HF for model publication.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Codebase/module map. Direct answer: Backend: auth, ingestion, quality, cleaning, export, smart-city, registry/router. Frontend: upload, connectors, dashboard, insights. Services: simulator, inference, federated demo.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Failure handling limits. Direct answer: Current prototype has queues and storage, but no full DLQ/retry/idempotency proof, no p95/p99 concurrency benchmark, and preview loading can buffer large result files.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Security and production roadmap. Direct answer: Current auth and org scoping exist. Needed before municipal pilot: threat model, upload sandboxing, model artifact validation, secret governance, HA, backup/restore, audit logs.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takeaway: Reproducibility and exact numbers. Direct answer: Exact numbers to remember: 30,000 rows; 406 ms; DQI +0.045 at 20%; 987 rows dropped; PatchTST 0.5609; F1 0.911; AUROC 0.8411; routing 140/140. Scope: use only when asked and keep the main narrative concise.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TITLE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of an Intelligent Assistant for Data Preparation Automation in Urban Transportation Management Systems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Flowmatic - master's thesis defence | 7M06105 Computer Science and Engineering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658368" y="2331720"/>
            <a:ext cx="530352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2423160"/>
            <a:ext cx="508406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Candidate: Ramazan Seiitbek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Supervisor: Aivar Sakhipov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School of Software Engineering, Astana IT University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0" y="2331720"/>
            <a:ext cx="4526280" cy="987552"/>
          </a:xfrm>
          <a:prstGeom prst="roundRect">
            <a:avLst>
              <a:gd name="adj" fmla="val 5556"/>
            </a:avLst>
          </a:prstGeom>
          <a:solidFill>
            <a:srgbClr val="EAF3FF"/>
          </a:solidFill>
          <a:ln w="12700">
            <a:solidFill>
              <a:srgbClr val="08A6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10528" y="2423160"/>
            <a:ext cx="430682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</a:rPr>
              <a:t>Astana, Kazakhstan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</a:rPr>
              <a:t>June 2026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76656" y="4251960"/>
            <a:ext cx="2070202" cy="566928"/>
          </a:xfrm>
          <a:prstGeom prst="roundRect">
            <a:avLst>
              <a:gd name="adj" fmla="val 9677"/>
            </a:avLst>
          </a:prstGeom>
          <a:solidFill>
            <a:srgbClr val="F8FB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343400"/>
            <a:ext cx="185074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Problem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65146" y="4535424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2856586" y="4251960"/>
            <a:ext cx="2070202" cy="566928"/>
          </a:xfrm>
          <a:prstGeom prst="roundRect">
            <a:avLst>
              <a:gd name="adj" fmla="val 9677"/>
            </a:avLst>
          </a:prstGeom>
          <a:solidFill>
            <a:srgbClr val="F8FB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66314" y="4343400"/>
            <a:ext cx="185074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Method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945075" y="4535424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036515" y="4251960"/>
            <a:ext cx="2070202" cy="566928"/>
          </a:xfrm>
          <a:prstGeom prst="roundRect">
            <a:avLst>
              <a:gd name="adj" fmla="val 9677"/>
            </a:avLst>
          </a:prstGeom>
          <a:solidFill>
            <a:srgbClr val="F8FB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46243" y="4343400"/>
            <a:ext cx="185074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Implementation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125005" y="4535424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216445" y="4251960"/>
            <a:ext cx="2070202" cy="566928"/>
          </a:xfrm>
          <a:prstGeom prst="roundRect">
            <a:avLst>
              <a:gd name="adj" fmla="val 9677"/>
            </a:avLst>
          </a:prstGeom>
          <a:solidFill>
            <a:srgbClr val="F8FB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26173" y="4343400"/>
            <a:ext cx="185074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Evidence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304934" y="4535424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396374" y="4251960"/>
            <a:ext cx="2070202" cy="566928"/>
          </a:xfrm>
          <a:prstGeom prst="roundRect">
            <a:avLst>
              <a:gd name="adj" fmla="val 9677"/>
            </a:avLst>
          </a:prstGeom>
          <a:solidFill>
            <a:srgbClr val="F8FB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06102" y="4343400"/>
            <a:ext cx="1850746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Limits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v3 title page; official AITU template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RELEVANCE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02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Dirty transport data breaks the path from operations to analytics.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The research problem is not just missing values; it is the missing auditable preparation-to-inference chain.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502920" y="2176272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" y="2267712"/>
            <a:ext cx="10241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CSV exports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1764792" y="2414016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856232" y="2176272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65960" y="2267712"/>
            <a:ext cx="10241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API feeds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3118104" y="2414016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209544" y="2176272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19272" y="2267712"/>
            <a:ext cx="10241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WebSocket telemetry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4471416" y="2414016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562856" y="2176272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72584" y="2267712"/>
            <a:ext cx="10241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Sensor simulators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502920" y="3063240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FDECEC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" y="3154680"/>
            <a:ext cx="10241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Missing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1764792" y="3300984"/>
            <a:ext cx="73152" cy="0"/>
          </a:xfrm>
          <a:prstGeom prst="line">
            <a:avLst/>
          </a:prstGeom>
          <a:noFill/>
          <a:ln w="12700">
            <a:solidFill>
              <a:srgbClr val="B42318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856232" y="3063240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FDECEC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965960" y="3154680"/>
            <a:ext cx="10241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Duplicates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3118104" y="3300984"/>
            <a:ext cx="73152" cy="0"/>
          </a:xfrm>
          <a:prstGeom prst="line">
            <a:avLst/>
          </a:prstGeom>
          <a:noFill/>
          <a:ln w="12700">
            <a:solidFill>
              <a:srgbClr val="B42318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3209544" y="3063240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FDECEC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319272" y="3154680"/>
            <a:ext cx="10241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Invalid GPS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4471416" y="3300984"/>
            <a:ext cx="73152" cy="0"/>
          </a:xfrm>
          <a:prstGeom prst="line">
            <a:avLst/>
          </a:prstGeom>
          <a:noFill/>
          <a:ln w="12700">
            <a:solidFill>
              <a:srgbClr val="B42318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4562856" y="3063240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FDECEC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72584" y="3154680"/>
            <a:ext cx="10241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Stale time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502920" y="3950208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2648" y="4041648"/>
            <a:ext cx="10241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Forecasting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1764792" y="4187952"/>
            <a:ext cx="73152" cy="0"/>
          </a:xfrm>
          <a:prstGeom prst="line">
            <a:avLst/>
          </a:prstGeom>
          <a:noFill/>
          <a:ln w="12700">
            <a:solidFill>
              <a:srgbClr val="D08312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1856232" y="3950208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965960" y="4041648"/>
            <a:ext cx="10241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Anomaly detection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3118104" y="4187952"/>
            <a:ext cx="73152" cy="0"/>
          </a:xfrm>
          <a:prstGeom prst="line">
            <a:avLst/>
          </a:prstGeom>
          <a:noFill/>
          <a:ln w="12700">
            <a:solidFill>
              <a:srgbClr val="D08312"/>
            </a:solidFill>
            <a:prstDash val="solid"/>
            <a:headEnd type="none"/>
            <a:tailEnd type="triangle"/>
          </a:ln>
        </p:spPr>
      </p:sp>
      <p:sp>
        <p:nvSpPr>
          <p:cNvPr id="40" name="Shape 37"/>
          <p:cNvSpPr/>
          <p:nvPr/>
        </p:nvSpPr>
        <p:spPr>
          <a:xfrm>
            <a:off x="3209544" y="3950208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319272" y="4041648"/>
            <a:ext cx="10241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Imputation</a:t>
            </a:r>
            <a:endParaRPr lang="en-US" sz="880" dirty="0"/>
          </a:p>
        </p:txBody>
      </p:sp>
      <p:sp>
        <p:nvSpPr>
          <p:cNvPr id="42" name="Shape 39"/>
          <p:cNvSpPr/>
          <p:nvPr/>
        </p:nvSpPr>
        <p:spPr>
          <a:xfrm>
            <a:off x="4471416" y="4187952"/>
            <a:ext cx="73152" cy="0"/>
          </a:xfrm>
          <a:prstGeom prst="line">
            <a:avLst/>
          </a:prstGeom>
          <a:noFill/>
          <a:ln w="12700">
            <a:solidFill>
              <a:srgbClr val="D08312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4562856" y="3950208"/>
            <a:ext cx="1243584" cy="475488"/>
          </a:xfrm>
          <a:prstGeom prst="roundRect">
            <a:avLst>
              <a:gd name="adj" fmla="val 11538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72584" y="4041648"/>
            <a:ext cx="1024128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Routing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6400800" y="2148840"/>
            <a:ext cx="45262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10528" y="2240280"/>
            <a:ext cx="4306824" cy="2185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Research problem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Urban-transport preparation is often performed outside the model workflow, leaving weak lineage, inconsistent quality measurement, and unclear downstream impact.</a:t>
            </a:r>
            <a:endParaRPr lang="en-US" sz="1700" dirty="0"/>
          </a:p>
        </p:txBody>
      </p:sp>
      <p:sp>
        <p:nvSpPr>
          <p:cNvPr id="47" name="Text 44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v3 Sec. 1.1; recommendations: problem -&gt; method -&gt; result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GAP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03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gap is measurement linkage, not a claim that no tools exist.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Existing systems solve parts of the workflow; the thesis evaluates the chain end to end within a prototype.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475488" y="2057400"/>
            <a:ext cx="2560320" cy="475488"/>
          </a:xfrm>
          <a:prstGeom prst="roundRect">
            <a:avLst>
              <a:gd name="adj" fmla="val 11538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5216" y="2148840"/>
            <a:ext cx="2340864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Existing solutions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28416" y="2057400"/>
            <a:ext cx="2560320" cy="475488"/>
          </a:xfrm>
          <a:prstGeom prst="roundRect">
            <a:avLst>
              <a:gd name="adj" fmla="val 11538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38144" y="2148840"/>
            <a:ext cx="2340864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Typical limit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81344" y="2057400"/>
            <a:ext cx="2560320" cy="475488"/>
          </a:xfrm>
          <a:prstGeom prst="roundRect">
            <a:avLst>
              <a:gd name="adj" fmla="val 11538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91072" y="2148840"/>
            <a:ext cx="2340864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Research gap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034272" y="2057400"/>
            <a:ext cx="2560320" cy="475488"/>
          </a:xfrm>
          <a:prstGeom prst="roundRect">
            <a:avLst>
              <a:gd name="adj" fmla="val 11538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0" y="2148840"/>
            <a:ext cx="2340864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Flowmatic contribution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" y="2670048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2761488"/>
            <a:ext cx="23408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</a:rPr>
              <a:t>Scripts / notebooks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3328416" y="2670048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38144" y="2761488"/>
            <a:ext cx="23408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</a:rPr>
              <a:t>Hard to audit and replay</a:t>
            </a:r>
            <a:endParaRPr lang="en-US" sz="870" dirty="0"/>
          </a:p>
        </p:txBody>
      </p:sp>
      <p:sp>
        <p:nvSpPr>
          <p:cNvPr id="24" name="Shape 21"/>
          <p:cNvSpPr/>
          <p:nvPr/>
        </p:nvSpPr>
        <p:spPr>
          <a:xfrm>
            <a:off x="6181344" y="2670048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91072" y="2761488"/>
            <a:ext cx="23408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</a:rPr>
              <a:t>No shared evidence trail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9034272" y="2670048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0" y="2761488"/>
            <a:ext cx="23408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</a:rPr>
              <a:t>DQI + cleaning + export records</a:t>
            </a:r>
            <a:endParaRPr lang="en-US" sz="870" dirty="0"/>
          </a:p>
        </p:txBody>
      </p:sp>
      <p:sp>
        <p:nvSpPr>
          <p:cNvPr id="28" name="Shape 25"/>
          <p:cNvSpPr/>
          <p:nvPr/>
        </p:nvSpPr>
        <p:spPr>
          <a:xfrm>
            <a:off x="475488" y="338328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5216" y="3474720"/>
            <a:ext cx="23408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</a:rPr>
              <a:t>ETL / MLOps tools</a:t>
            </a:r>
            <a:endParaRPr lang="en-US" sz="870" dirty="0"/>
          </a:p>
        </p:txBody>
      </p:sp>
      <p:sp>
        <p:nvSpPr>
          <p:cNvPr id="30" name="Shape 27"/>
          <p:cNvSpPr/>
          <p:nvPr/>
        </p:nvSpPr>
        <p:spPr>
          <a:xfrm>
            <a:off x="3328416" y="338328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38144" y="3474720"/>
            <a:ext cx="23408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</a:rPr>
              <a:t>Model and prep tracked apart</a:t>
            </a:r>
            <a:endParaRPr lang="en-US" sz="870" dirty="0"/>
          </a:p>
        </p:txBody>
      </p:sp>
      <p:sp>
        <p:nvSpPr>
          <p:cNvPr id="32" name="Shape 29"/>
          <p:cNvSpPr/>
          <p:nvPr/>
        </p:nvSpPr>
        <p:spPr>
          <a:xfrm>
            <a:off x="6181344" y="338328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91072" y="3474720"/>
            <a:ext cx="23408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</a:rPr>
              <a:t>Weak transport-specific validation</a:t>
            </a:r>
            <a:endParaRPr lang="en-US" sz="870" dirty="0"/>
          </a:p>
        </p:txBody>
      </p:sp>
      <p:sp>
        <p:nvSpPr>
          <p:cNvPr id="34" name="Shape 31"/>
          <p:cNvSpPr/>
          <p:nvPr/>
        </p:nvSpPr>
        <p:spPr>
          <a:xfrm>
            <a:off x="9034272" y="338328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0" y="3474720"/>
            <a:ext cx="23408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</a:rPr>
              <a:t>Preparation tied to model registry</a:t>
            </a:r>
            <a:endParaRPr lang="en-US" sz="870" dirty="0"/>
          </a:p>
        </p:txBody>
      </p:sp>
      <p:sp>
        <p:nvSpPr>
          <p:cNvPr id="36" name="Shape 33"/>
          <p:cNvSpPr/>
          <p:nvPr/>
        </p:nvSpPr>
        <p:spPr>
          <a:xfrm>
            <a:off x="475488" y="4096512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5216" y="4187952"/>
            <a:ext cx="23408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</a:rPr>
              <a:t>ITS analytics</a:t>
            </a:r>
            <a:endParaRPr lang="en-US" sz="870" dirty="0"/>
          </a:p>
        </p:txBody>
      </p:sp>
      <p:sp>
        <p:nvSpPr>
          <p:cNvPr id="38" name="Shape 35"/>
          <p:cNvSpPr/>
          <p:nvPr/>
        </p:nvSpPr>
        <p:spPr>
          <a:xfrm>
            <a:off x="3328416" y="4096512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38144" y="4187952"/>
            <a:ext cx="23408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</a:rPr>
              <a:t>Models evaluated separately</a:t>
            </a:r>
            <a:endParaRPr lang="en-US" sz="870" dirty="0"/>
          </a:p>
        </p:txBody>
      </p:sp>
      <p:sp>
        <p:nvSpPr>
          <p:cNvPr id="40" name="Shape 37"/>
          <p:cNvSpPr/>
          <p:nvPr/>
        </p:nvSpPr>
        <p:spPr>
          <a:xfrm>
            <a:off x="6181344" y="4096512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91072" y="4187952"/>
            <a:ext cx="23408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</a:rPr>
              <a:t>Unclear impact of data defects</a:t>
            </a:r>
            <a:endParaRPr lang="en-US" sz="870" dirty="0"/>
          </a:p>
        </p:txBody>
      </p:sp>
      <p:sp>
        <p:nvSpPr>
          <p:cNvPr id="42" name="Shape 39"/>
          <p:cNvSpPr/>
          <p:nvPr/>
        </p:nvSpPr>
        <p:spPr>
          <a:xfrm>
            <a:off x="9034272" y="4096512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144000" y="4187952"/>
            <a:ext cx="2340864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11827"/>
                </a:solidFill>
              </a:rPr>
              <a:t>Stress tests + ablation + routing check</a:t>
            </a:r>
            <a:endParaRPr lang="en-US" sz="870" dirty="0"/>
          </a:p>
        </p:txBody>
      </p:sp>
      <p:sp>
        <p:nvSpPr>
          <p:cNvPr id="44" name="Shape 41"/>
          <p:cNvSpPr/>
          <p:nvPr/>
        </p:nvSpPr>
        <p:spPr>
          <a:xfrm>
            <a:off x="731520" y="5074920"/>
            <a:ext cx="10607040" cy="530352"/>
          </a:xfrm>
          <a:prstGeom prst="roundRect">
            <a:avLst>
              <a:gd name="adj" fmla="val 10345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41248" y="5166360"/>
            <a:ext cx="1038758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Contribution boundary: Flowmatic does not claim a new universal neural architecture, new DQI theory, or production-certified ITS deployment.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v3 Sec. 2.12-2.17; review Q1 risk S03/S07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AIM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04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aim is implemented through six objectives and four scoped questions.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Each research question is tied to measurable evidence and a visible limitation.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502920" y="1965960"/>
            <a:ext cx="374904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" y="2057400"/>
            <a:ext cx="352958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Aim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Develop and evaluate an intelligent software platform for automated transport-data preparation with DQI, reproducible preprocessing, and downstream model integration.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498848" y="1965960"/>
            <a:ext cx="2743200" cy="1060704"/>
          </a:xfrm>
          <a:prstGeom prst="roundRect">
            <a:avLst>
              <a:gd name="adj" fmla="val 5172"/>
            </a:avLst>
          </a:prstGeom>
          <a:solidFill>
            <a:srgbClr val="EAF3FF"/>
          </a:solidFill>
          <a:ln w="12700">
            <a:solidFill>
              <a:srgbClr val="08A6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08576" y="2057400"/>
            <a:ext cx="2523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Object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Data preparation process in urban transportation management systems.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7516368" y="1965960"/>
            <a:ext cx="3337560" cy="1060704"/>
          </a:xfrm>
          <a:prstGeom prst="roundRect">
            <a:avLst>
              <a:gd name="adj" fmla="val 5172"/>
            </a:avLst>
          </a:prstGeom>
          <a:solidFill>
            <a:srgbClr val="EAF3FF"/>
          </a:solidFill>
          <a:ln w="12700">
            <a:solidFill>
              <a:srgbClr val="08A6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6096" y="2057400"/>
            <a:ext cx="311810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827"/>
                </a:solidFill>
              </a:rPr>
              <a:t>Subject</a:t>
            </a:r>
            <a:endParaRPr lang="en-US" sz="1140" dirty="0"/>
          </a:p>
          <a:p>
            <a:pPr indent="0" marL="0">
              <a:buNone/>
            </a:pPr>
            <a:r>
              <a:rPr lang="en-US" sz="1140" b="1" dirty="0">
                <a:solidFill>
                  <a:srgbClr val="111827"/>
                </a:solidFill>
              </a:rPr>
              <a:t>Software mechanisms for quality assessment, preprocessing, routing, and model-ready data preparation.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640080" y="3858768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950208"/>
            <a:ext cx="2203704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RQ1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DQI recovery under corruption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3429000" y="3858768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38728" y="3950208"/>
            <a:ext cx="2203704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RQ2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Batch and streaming prototype operation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6217920" y="3858768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27648" y="3950208"/>
            <a:ext cx="2203704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RQ3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Model portfolio vs simple baselines</a:t>
            </a:r>
            <a:endParaRPr lang="en-US" sz="1060" dirty="0"/>
          </a:p>
        </p:txBody>
      </p:sp>
      <p:sp>
        <p:nvSpPr>
          <p:cNvPr id="24" name="Shape 21"/>
          <p:cNvSpPr/>
          <p:nvPr/>
        </p:nvSpPr>
        <p:spPr>
          <a:xfrm>
            <a:off x="9006840" y="3858768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16568" y="3950208"/>
            <a:ext cx="2203704" cy="676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RQ4</a:t>
            </a:r>
            <a:endParaRPr lang="en-US" sz="1060" dirty="0"/>
          </a:p>
          <a:p>
            <a:pPr indent="0" marL="0">
              <a:buNone/>
            </a:pPr>
            <a:r>
              <a:rPr lang="en-US" sz="1060" b="1" dirty="0">
                <a:solidFill>
                  <a:srgbClr val="111827"/>
                </a:solidFill>
              </a:rPr>
              <a:t>Rule-router policy conformance</a:t>
            </a:r>
            <a:endParaRPr lang="en-US" sz="1060" dirty="0"/>
          </a:p>
        </p:txBody>
      </p:sp>
      <p:sp>
        <p:nvSpPr>
          <p:cNvPr id="26" name="Text 23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v3 Sec. 1.2, 3.3, 5.9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NOVELTY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05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scientific claim is the evaluated chain, not the existence of the platform.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Prior publications and standard components are separated from thesis-new evidence.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502920" y="196596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" y="2057400"/>
            <a:ext cx="3209544" cy="2139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Scientific contribution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Linked evaluation protocol: DQI recovery, downstream-model effect, routing conformance, and reproducibility artifacts.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24528" y="196596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34256" y="2057400"/>
            <a:ext cx="3209544" cy="2139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Engineering contribution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Containerised Flowmatic prototype: Vue, NestJS, PostgreSQL, MinIO, RabbitMQ, simulators, inference service.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36992" y="1965960"/>
            <a:ext cx="3429000" cy="2286000"/>
          </a:xfrm>
          <a:prstGeom prst="roundRect">
            <a:avLst>
              <a:gd name="adj" fmla="val 24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0" y="2057400"/>
            <a:ext cx="3209544" cy="21396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Thesis-new evidence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Corruption stress test, baseline tables, preparation ablation, 140-event routing check, explicit limitation ledger.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05840" y="4983480"/>
            <a:ext cx="10012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5568" y="5074920"/>
            <a:ext cx="979322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B42318"/>
                </a:solidFill>
              </a:rPr>
              <a:t>Not claimed: new neural architecture, learned router, universal DQI theory, or live municipal production deployment.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v3 Sec. 1.3, 2.13.1, Appendix A; review W1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METHODOLOGY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06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research workflow tests the artefact under controlled, reproducible conditions.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263804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057400"/>
            <a:ext cx="24185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Literature + gap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4972" y="2249424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296412" y="1965960"/>
            <a:ext cx="263804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6140" y="2057400"/>
            <a:ext cx="24185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Artifact design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52744" y="2249424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044184" y="1965960"/>
            <a:ext cx="263804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2057400"/>
            <a:ext cx="24185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Implementation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700516" y="2249424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791956" y="1965960"/>
            <a:ext cx="2638044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01684" y="2057400"/>
            <a:ext cx="24185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Dataset prep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063240"/>
            <a:ext cx="2638044" cy="566928"/>
          </a:xfrm>
          <a:prstGeom prst="roundRect">
            <a:avLst>
              <a:gd name="adj" fmla="val 9677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3154680"/>
            <a:ext cx="24185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Corruption injection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4972" y="3346704"/>
            <a:ext cx="73152" cy="0"/>
          </a:xfrm>
          <a:prstGeom prst="line">
            <a:avLst/>
          </a:prstGeom>
          <a:noFill/>
          <a:ln w="12700">
            <a:solidFill>
              <a:srgbClr val="168A5A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296412" y="3063240"/>
            <a:ext cx="2638044" cy="566928"/>
          </a:xfrm>
          <a:prstGeom prst="roundRect">
            <a:avLst>
              <a:gd name="adj" fmla="val 9677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06140" y="3154680"/>
            <a:ext cx="24185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Temporal splits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952744" y="3346704"/>
            <a:ext cx="73152" cy="0"/>
          </a:xfrm>
          <a:prstGeom prst="line">
            <a:avLst/>
          </a:prstGeom>
          <a:noFill/>
          <a:ln w="12700">
            <a:solidFill>
              <a:srgbClr val="168A5A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6044184" y="3063240"/>
            <a:ext cx="2638044" cy="566928"/>
          </a:xfrm>
          <a:prstGeom prst="roundRect">
            <a:avLst>
              <a:gd name="adj" fmla="val 9677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53912" y="3154680"/>
            <a:ext cx="24185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Baselines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700516" y="3346704"/>
            <a:ext cx="73152" cy="0"/>
          </a:xfrm>
          <a:prstGeom prst="line">
            <a:avLst/>
          </a:prstGeom>
          <a:noFill/>
          <a:ln w="12700">
            <a:solidFill>
              <a:srgbClr val="168A5A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791956" y="3063240"/>
            <a:ext cx="2638044" cy="566928"/>
          </a:xfrm>
          <a:prstGeom prst="roundRect">
            <a:avLst>
              <a:gd name="adj" fmla="val 9677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901684" y="3154680"/>
            <a:ext cx="24185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Ablations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48640" y="4160520"/>
            <a:ext cx="2638044" cy="566928"/>
          </a:xfrm>
          <a:prstGeom prst="roundRect">
            <a:avLst>
              <a:gd name="adj" fmla="val 9677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" y="4251960"/>
            <a:ext cx="24185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Routing replay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204972" y="4443984"/>
            <a:ext cx="73152" cy="0"/>
          </a:xfrm>
          <a:prstGeom prst="line">
            <a:avLst/>
          </a:prstGeom>
          <a:noFill/>
          <a:ln w="12700">
            <a:solidFill>
              <a:srgbClr val="D08312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3296412" y="4160520"/>
            <a:ext cx="2638044" cy="566928"/>
          </a:xfrm>
          <a:prstGeom prst="roundRect">
            <a:avLst>
              <a:gd name="adj" fmla="val 9677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406140" y="4251960"/>
            <a:ext cx="24185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Latency checks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952744" y="4443984"/>
            <a:ext cx="73152" cy="0"/>
          </a:xfrm>
          <a:prstGeom prst="line">
            <a:avLst/>
          </a:prstGeom>
          <a:noFill/>
          <a:ln w="12700">
            <a:solidFill>
              <a:srgbClr val="D08312"/>
            </a:solidFill>
            <a:prstDash val="solid"/>
            <a:headEnd type="none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6044184" y="4160520"/>
            <a:ext cx="2638044" cy="566928"/>
          </a:xfrm>
          <a:prstGeom prst="roundRect">
            <a:avLst>
              <a:gd name="adj" fmla="val 9677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53912" y="4251960"/>
            <a:ext cx="24185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Hugging Face artifacts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700516" y="4443984"/>
            <a:ext cx="73152" cy="0"/>
          </a:xfrm>
          <a:prstGeom prst="line">
            <a:avLst/>
          </a:prstGeom>
          <a:noFill/>
          <a:ln w="12700">
            <a:solidFill>
              <a:srgbClr val="D08312"/>
            </a:solidFill>
            <a:prstDash val="solid"/>
            <a:headEnd type="none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8791956" y="4160520"/>
            <a:ext cx="2638044" cy="566928"/>
          </a:xfrm>
          <a:prstGeom prst="roundRect">
            <a:avLst>
              <a:gd name="adj" fmla="val 9677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01684" y="4251960"/>
            <a:ext cx="241858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Threats to validity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02336" y="5321808"/>
            <a:ext cx="10881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Falsifiable centre: if preparation does not improve quality or downstream behavior under controlled defects, the main thesis claim weakens.</a:t>
            </a:r>
            <a:endParaRPr lang="en-US" sz="1320" dirty="0"/>
          </a:p>
        </p:txBody>
      </p:sp>
      <p:sp>
        <p:nvSpPr>
          <p:cNvPr id="45" name="Text 42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v3 Ch. 3, Ch. 5; recommendations: research pipeline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DATA SCOPE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07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evidence is reproducible, but not all data are externally real-world validated.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This slide makes semi-synthetic and simulated data visible before results appear.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502920" y="1938528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" y="2029968"/>
            <a:ext cx="15636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14600" y="1938528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24328" y="2029968"/>
            <a:ext cx="15636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Provenance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17720" y="1938528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2029968"/>
            <a:ext cx="15636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Scale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80760" y="1938528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0488" y="2029968"/>
            <a:ext cx="156362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001000" y="1938528"/>
            <a:ext cx="3246120" cy="402336"/>
          </a:xfrm>
          <a:prstGeom prst="roundRect">
            <a:avLst>
              <a:gd name="adj" fmla="val 13636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10728" y="2029968"/>
            <a:ext cx="302666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Limit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02920" y="2450592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" y="2542032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Astana traffic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2514600" y="2450592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24328" y="2542032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NDA-derived semi-synthetic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4617720" y="2450592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7448" y="2542032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30,000 rows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6080760" y="2450592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90488" y="2542032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Batch API, stress, forecasting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8001000" y="2450592"/>
            <a:ext cx="3246120" cy="512064"/>
          </a:xfrm>
          <a:prstGeom prst="roundRect">
            <a:avLst>
              <a:gd name="adj" fmla="val 10714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110728" y="2542032"/>
            <a:ext cx="302666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Reproducible CSV; source calibration limited</a:t>
            </a:r>
            <a:endParaRPr lang="en-US" sz="780" dirty="0"/>
          </a:p>
        </p:txBody>
      </p:sp>
      <p:sp>
        <p:nvSpPr>
          <p:cNvPr id="32" name="Shape 29"/>
          <p:cNvSpPr/>
          <p:nvPr/>
        </p:nvSpPr>
        <p:spPr>
          <a:xfrm>
            <a:off x="502920" y="316382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2648" y="3255264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HF weather / ETT / traffic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2514600" y="316382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624328" y="3255264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Public bundles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4617720" y="316382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27448" y="3255264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Offline windows</a:t>
            </a:r>
            <a:endParaRPr lang="en-US" sz="780" dirty="0"/>
          </a:p>
        </p:txBody>
      </p:sp>
      <p:sp>
        <p:nvSpPr>
          <p:cNvPr id="38" name="Shape 35"/>
          <p:cNvSpPr/>
          <p:nvPr/>
        </p:nvSpPr>
        <p:spPr>
          <a:xfrm>
            <a:off x="6080760" y="3163824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90488" y="3255264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Neural training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8001000" y="3163824"/>
            <a:ext cx="3246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110728" y="3255264"/>
            <a:ext cx="302666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Not all re-uploaded through Nest API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502920" y="3877056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2648" y="3968496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Simulator events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2514600" y="3877056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624328" y="3968496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Generated HTTP/WebSocket</a:t>
            </a:r>
            <a:endParaRPr lang="en-US" sz="780" dirty="0"/>
          </a:p>
        </p:txBody>
      </p:sp>
      <p:sp>
        <p:nvSpPr>
          <p:cNvPr id="46" name="Shape 43"/>
          <p:cNvSpPr/>
          <p:nvPr/>
        </p:nvSpPr>
        <p:spPr>
          <a:xfrm>
            <a:off x="4617720" y="3877056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727448" y="3968496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140 routing events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6080760" y="3877056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190488" y="3968496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Auto routing check</a:t>
            </a:r>
            <a:endParaRPr lang="en-US" sz="780" dirty="0"/>
          </a:p>
        </p:txBody>
      </p:sp>
      <p:sp>
        <p:nvSpPr>
          <p:cNvPr id="50" name="Shape 47"/>
          <p:cNvSpPr/>
          <p:nvPr/>
        </p:nvSpPr>
        <p:spPr>
          <a:xfrm>
            <a:off x="8001000" y="3877056"/>
            <a:ext cx="3246120" cy="512064"/>
          </a:xfrm>
          <a:prstGeom prst="roundRect">
            <a:avLst>
              <a:gd name="adj" fmla="val 10714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110728" y="3968496"/>
            <a:ext cx="302666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Policy-aligned labels</a:t>
            </a:r>
            <a:endParaRPr lang="en-US" sz="780" dirty="0"/>
          </a:p>
        </p:txBody>
      </p:sp>
      <p:sp>
        <p:nvSpPr>
          <p:cNvPr id="52" name="Shape 49"/>
          <p:cNvSpPr/>
          <p:nvPr/>
        </p:nvSpPr>
        <p:spPr>
          <a:xfrm>
            <a:off x="502920" y="4590288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12648" y="4681728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Injected defects/anomalies</a:t>
            </a:r>
            <a:endParaRPr lang="en-US" sz="780" dirty="0"/>
          </a:p>
        </p:txBody>
      </p:sp>
      <p:sp>
        <p:nvSpPr>
          <p:cNvPr id="54" name="Shape 51"/>
          <p:cNvSpPr/>
          <p:nvPr/>
        </p:nvSpPr>
        <p:spPr>
          <a:xfrm>
            <a:off x="2514600" y="4590288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624328" y="4681728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Controlled perturbation</a:t>
            </a:r>
            <a:endParaRPr lang="en-US" sz="780" dirty="0"/>
          </a:p>
        </p:txBody>
      </p:sp>
      <p:sp>
        <p:nvSpPr>
          <p:cNvPr id="56" name="Shape 53"/>
          <p:cNvSpPr/>
          <p:nvPr/>
        </p:nvSpPr>
        <p:spPr>
          <a:xfrm>
            <a:off x="4617720" y="4590288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727448" y="4681728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0-20% corruption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6080760" y="4590288"/>
            <a:ext cx="17830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190488" y="4681728"/>
            <a:ext cx="156362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Stress / TranAD AUROC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8001000" y="4590288"/>
            <a:ext cx="3246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110728" y="4681728"/>
            <a:ext cx="302666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11827"/>
                </a:solidFill>
              </a:rPr>
              <a:t>Not municipal incident labels</a:t>
            </a:r>
            <a:endParaRPr lang="en-US" sz="780" dirty="0"/>
          </a:p>
        </p:txBody>
      </p:sp>
      <p:sp>
        <p:nvSpPr>
          <p:cNvPr id="62" name="Text 59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v3 Sec. 3.4, 5.2.1, Appendix C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PREPARATION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08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DQI makes preparation auditable before data reach models.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Six dimensions are operationalised through profiling, rules, cleaning, and export records.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502920" y="19659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" y="2057400"/>
            <a:ext cx="151790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Raw input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258568" y="2231136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350008" y="19659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59736" y="2057400"/>
            <a:ext cx="151790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Profiling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05656" y="2231136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197096" y="19659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06824" y="2057400"/>
            <a:ext cx="151790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Six-D DQI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952744" y="2231136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044184" y="19659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53912" y="2057400"/>
            <a:ext cx="151790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Repair / reject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799832" y="2231136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891272" y="19659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01000" y="2057400"/>
            <a:ext cx="151790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Prepared data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646920" y="2231136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738360" y="1965960"/>
            <a:ext cx="1737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848088" y="2057400"/>
            <a:ext cx="151790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Audit artifact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40080" y="3063240"/>
            <a:ext cx="3063240" cy="493776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9808" y="3154680"/>
            <a:ext cx="28437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Completeness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251960" y="3063240"/>
            <a:ext cx="3063240" cy="493776"/>
          </a:xfrm>
          <a:prstGeom prst="roundRect">
            <a:avLst>
              <a:gd name="adj" fmla="val 11111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61688" y="3154680"/>
            <a:ext cx="28437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Consistency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863840" y="3063240"/>
            <a:ext cx="3063240" cy="493776"/>
          </a:xfrm>
          <a:prstGeom prst="roundRect">
            <a:avLst>
              <a:gd name="adj" fmla="val 11111"/>
            </a:avLst>
          </a:prstGeom>
          <a:solidFill>
            <a:srgbClr val="FFF4D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73568" y="3154680"/>
            <a:ext cx="28437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Accuracy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40080" y="3867912"/>
            <a:ext cx="3063240" cy="493776"/>
          </a:xfrm>
          <a:prstGeom prst="roundRect">
            <a:avLst>
              <a:gd name="adj" fmla="val 11111"/>
            </a:avLst>
          </a:prstGeom>
          <a:solidFill>
            <a:srgbClr val="EAF3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9808" y="3959352"/>
            <a:ext cx="28437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Timeliness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251960" y="3867912"/>
            <a:ext cx="3063240" cy="493776"/>
          </a:xfrm>
          <a:prstGeom prst="roundRect">
            <a:avLst>
              <a:gd name="adj" fmla="val 11111"/>
            </a:avLst>
          </a:prstGeom>
          <a:solidFill>
            <a:srgbClr val="E9F7E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361688" y="3959352"/>
            <a:ext cx="28437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Uniqueness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863840" y="3867912"/>
            <a:ext cx="3063240" cy="493776"/>
          </a:xfrm>
          <a:prstGeom prst="roundRect">
            <a:avLst>
              <a:gd name="adj" fmla="val 11111"/>
            </a:avLst>
          </a:prstGeom>
          <a:solidFill>
            <a:srgbClr val="FFF4D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973568" y="3959352"/>
            <a:ext cx="2843784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Validity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914400" y="4983480"/>
            <a:ext cx="10332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24128" y="5074920"/>
            <a:ext cx="1011326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08312"/>
                </a:solidFill>
              </a:rPr>
              <a:t>Important boundary: at 20% corruption, quality recovery includes row rejection; it is not purely in-place imputation.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v3 Sec. 3.6-3.7; quality.service.ts; cleaning.service.ts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09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Flowmatic connects auditable preparation with task-specific inference.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" y="2011680"/>
            <a:ext cx="170078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Vue frontend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Upload + smart-city workbench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88920" y="1920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98648" y="2011680"/>
            <a:ext cx="197510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111827"/>
                </a:solidFill>
              </a:rPr>
              <a:t>NestJS API</a:t>
            </a:r>
            <a:endParaRPr lang="en-US" sz="1010" dirty="0"/>
          </a:p>
          <a:p>
            <a:pPr indent="0" marL="0">
              <a:buNone/>
            </a:pPr>
            <a:r>
              <a:rPr lang="en-US" sz="1010" b="1" dirty="0">
                <a:solidFill>
                  <a:srgbClr val="111827"/>
                </a:solidFill>
              </a:rPr>
              <a:t>Auth, ingestion, quality, cleaning, export</a:t>
            </a:r>
            <a:endParaRPr lang="en-US" sz="1010" dirty="0"/>
          </a:p>
        </p:txBody>
      </p:sp>
      <p:sp>
        <p:nvSpPr>
          <p:cNvPr id="15" name="Shape 12"/>
          <p:cNvSpPr/>
          <p:nvPr/>
        </p:nvSpPr>
        <p:spPr>
          <a:xfrm>
            <a:off x="5349240" y="1572768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58968" y="1664208"/>
            <a:ext cx="1609344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11827"/>
                </a:solidFill>
              </a:rPr>
              <a:t>PostgreSQL</a:t>
            </a:r>
            <a:endParaRPr lang="en-US" sz="930" dirty="0"/>
          </a:p>
          <a:p>
            <a:pPr indent="0" marL="0">
              <a:buNone/>
            </a:pPr>
            <a:r>
              <a:rPr lang="en-US" sz="930" b="1" dirty="0">
                <a:solidFill>
                  <a:srgbClr val="111827"/>
                </a:solidFill>
              </a:rPr>
              <a:t>metadata + tenancy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5349240" y="242316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58968" y="2514600"/>
            <a:ext cx="1609344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11827"/>
                </a:solidFill>
              </a:rPr>
              <a:t>MinIO/S3</a:t>
            </a:r>
            <a:endParaRPr lang="en-US" sz="930" dirty="0"/>
          </a:p>
          <a:p>
            <a:pPr indent="0" marL="0">
              <a:buNone/>
            </a:pPr>
            <a:r>
              <a:rPr lang="en-US" sz="930" b="1" dirty="0">
                <a:solidFill>
                  <a:srgbClr val="111827"/>
                </a:solidFill>
              </a:rPr>
              <a:t>raw + cleaned files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5349240" y="3273552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58968" y="3364992"/>
            <a:ext cx="1609344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11827"/>
                </a:solidFill>
              </a:rPr>
              <a:t>RabbitMQ</a:t>
            </a:r>
            <a:endParaRPr lang="en-US" sz="930" dirty="0"/>
          </a:p>
          <a:p>
            <a:pPr indent="0" marL="0">
              <a:buNone/>
            </a:pPr>
            <a:r>
              <a:rPr lang="en-US" sz="930" b="1" dirty="0">
                <a:solidFill>
                  <a:srgbClr val="111827"/>
                </a:solidFill>
              </a:rPr>
              <a:t>async jobs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7543800" y="192024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53528" y="2011680"/>
            <a:ext cx="160934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Model registry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local + HF metadata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738360" y="192024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48088" y="2011680"/>
            <a:ext cx="1700784" cy="768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Inference service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TorchScript/Python API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2377440"/>
            <a:ext cx="2286000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423160" y="2377440"/>
            <a:ext cx="34747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4983480" y="2377440"/>
            <a:ext cx="34747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178040" y="2377440"/>
            <a:ext cx="34747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9372600" y="2377440"/>
            <a:ext cx="34747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97280" y="4892040"/>
            <a:ext cx="978408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07008" y="4983480"/>
            <a:ext cx="9564624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B42318"/>
                </a:solidFill>
              </a:rPr>
              <a:t>Optional / not central evaluation: LLM narration and federated coordinator demo. They are prototype features, not the basis of the scientific claim.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docker-compose.yml; Prisma schema; backend smart-city/model registry modules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ASSISTANT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10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system is intelligent as a bounded hybrid assistant, not as general AI.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Automation combines deterministic diagnostics, policy routing, learned models, and operator control.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411480" y="2057400"/>
            <a:ext cx="151267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2148840"/>
            <a:ext cx="1293223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</a:rPr>
              <a:t>Profiling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1942447" y="2331720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033887" y="2057400"/>
            <a:ext cx="151267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43615" y="2148840"/>
            <a:ext cx="1293223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</a:rPr>
              <a:t>DQI rules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3564854" y="2331720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3656294" y="2057400"/>
            <a:ext cx="151267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6022" y="2148840"/>
            <a:ext cx="1293223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</a:rPr>
              <a:t>Preparation decisions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5187261" y="2331720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278701" y="2057400"/>
            <a:ext cx="151267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88429" y="2148840"/>
            <a:ext cx="1293223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</a:rPr>
              <a:t>Payload profile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6809667" y="2331720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901107" y="2057400"/>
            <a:ext cx="151267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10835" y="2148840"/>
            <a:ext cx="1293223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</a:rPr>
              <a:t>Policy routing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8432074" y="2331720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523514" y="2057400"/>
            <a:ext cx="151267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33242" y="2148840"/>
            <a:ext cx="1293223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</a:rPr>
              <a:t>Learned inference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10054481" y="2331720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145921" y="2057400"/>
            <a:ext cx="1512679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255649" y="2148840"/>
            <a:ext cx="1293223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11827"/>
                </a:solidFill>
              </a:rPr>
              <a:t>Operator output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731520" y="333756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1248" y="3429000"/>
            <a:ext cx="2935224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Deterministic automation</a:t>
            </a:r>
            <a:endParaRPr lang="en-US" sz="1120" dirty="0"/>
          </a:p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schema checks, missing values, duplicates, ranges, stale records</a:t>
            </a:r>
            <a:endParaRPr lang="en-US" sz="1120" dirty="0"/>
          </a:p>
        </p:txBody>
      </p:sp>
      <p:sp>
        <p:nvSpPr>
          <p:cNvPr id="34" name="Shape 31"/>
          <p:cNvSpPr/>
          <p:nvPr/>
        </p:nvSpPr>
        <p:spPr>
          <a:xfrm>
            <a:off x="4434840" y="333756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44568" y="3429000"/>
            <a:ext cx="2935224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Policy decisions</a:t>
            </a:r>
            <a:endParaRPr lang="en-US" sz="1120" dirty="0"/>
          </a:p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Manual or Auto routing through metadata and priority rules</a:t>
            </a:r>
            <a:endParaRPr lang="en-US" sz="1120" dirty="0"/>
          </a:p>
        </p:txBody>
      </p:sp>
      <p:sp>
        <p:nvSpPr>
          <p:cNvPr id="36" name="Shape 33"/>
          <p:cNvSpPr/>
          <p:nvPr/>
        </p:nvSpPr>
        <p:spPr>
          <a:xfrm>
            <a:off x="8138160" y="333756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47888" y="3429000"/>
            <a:ext cx="2935224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Task-specific learning</a:t>
            </a:r>
            <a:endParaRPr lang="en-US" sz="1120" dirty="0"/>
          </a:p>
          <a:p>
            <a:pPr indent="0" marL="0">
              <a:buNone/>
            </a:pPr>
            <a:r>
              <a:rPr lang="en-US" sz="1120" b="1" dirty="0">
                <a:solidFill>
                  <a:srgbClr val="111827"/>
                </a:solidFill>
              </a:rPr>
              <a:t>forecasting, anomaly, imputation, severity classification</a:t>
            </a:r>
            <a:endParaRPr lang="en-US" sz="1120" dirty="0"/>
          </a:p>
        </p:txBody>
      </p:sp>
      <p:sp>
        <p:nvSpPr>
          <p:cNvPr id="38" name="Text 35"/>
          <p:cNvSpPr/>
          <p:nvPr/>
        </p:nvSpPr>
        <p:spPr>
          <a:xfrm>
            <a:off x="402336" y="5074920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LLM narration is optional and not used as the scientific basis of the thesis.</a:t>
            </a:r>
            <a:endParaRPr lang="en-US" sz="1320" dirty="0"/>
          </a:p>
        </p:txBody>
      </p:sp>
      <p:sp>
        <p:nvSpPr>
          <p:cNvPr id="39" name="Text 36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pipeline-model-router.service.ts; model registry; thesis v3 Sec. 3.11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PROTOCOL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11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experiment design separates leakage control from statistical strength.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Temporal hold-out is strong; three-seed variability should be read descriptively.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77240" y="2148840"/>
            <a:ext cx="18166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2240280"/>
            <a:ext cx="159715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70% train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612136" y="2478024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703576" y="2148840"/>
            <a:ext cx="18166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813304" y="2240280"/>
            <a:ext cx="159715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15% validation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38472" y="2478024"/>
            <a:ext cx="73152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629912" y="2148840"/>
            <a:ext cx="181660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39640" y="2240280"/>
            <a:ext cx="1597152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15% test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903720" y="1938528"/>
            <a:ext cx="3977640" cy="1005840"/>
          </a:xfrm>
          <a:prstGeom prst="roundRect">
            <a:avLst>
              <a:gd name="adj" fmla="val 5455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13448" y="2029968"/>
            <a:ext cx="3758184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Leakage controls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Temporal split, scalers fitted on train, fixed test tail, identical partition for baselines.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914400" y="3822192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4128" y="3913632"/>
            <a:ext cx="2706624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</a:rPr>
              <a:t>Seeds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B3D91"/>
                </a:solidFill>
              </a:rPr>
              <a:t>42, 7, 2026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4206240" y="3822192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15968" y="3913632"/>
            <a:ext cx="2706624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Metrics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RMSE, macro-F1, AUROC, masked MSE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498080" y="3822192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07808" y="3913632"/>
            <a:ext cx="2706624" cy="8138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Caution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</a:rPr>
              <a:t>No broad significance claim from n=3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v3 Sec. 5.2.2; review W3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RQ1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12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Preparation recovered measurable quality, partly by rejecting invalid records.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At 20% corruption, DQI improved from 0.788 to 0.833 while 987 rows were dropped.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685800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575"/>
                </a:solidFill>
              </a:rPr>
              <a:t>0%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1947672" y="2121408"/>
            <a:ext cx="4526280" cy="10972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47672" y="2267712"/>
            <a:ext cx="4526280" cy="109728"/>
          </a:xfrm>
          <a:prstGeom prst="rect">
            <a:avLst/>
          </a:prstGeom>
          <a:solidFill>
            <a:srgbClr val="168A5A"/>
          </a:solidFill>
          <a:ln w="12700">
            <a:solidFill>
              <a:srgbClr val="168A5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65392" y="21305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</a:rPr>
              <a:t>0.833 -&gt; 0.833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85800" y="25877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575"/>
                </a:solidFill>
              </a:rPr>
              <a:t>1%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1947672" y="2587752"/>
            <a:ext cx="4515413" cy="10972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47672" y="2734056"/>
            <a:ext cx="4526280" cy="109728"/>
          </a:xfrm>
          <a:prstGeom prst="rect">
            <a:avLst/>
          </a:prstGeom>
          <a:solidFill>
            <a:srgbClr val="168A5A"/>
          </a:solidFill>
          <a:ln w="12700">
            <a:solidFill>
              <a:srgbClr val="168A5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65392" y="25968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</a:rPr>
              <a:t>0.831 -&gt; 0.833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685800" y="30540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575"/>
                </a:solidFill>
              </a:rPr>
              <a:t>5%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1947672" y="3054096"/>
            <a:ext cx="4471943" cy="10972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47672" y="3200400"/>
            <a:ext cx="4526280" cy="109728"/>
          </a:xfrm>
          <a:prstGeom prst="rect">
            <a:avLst/>
          </a:prstGeom>
          <a:solidFill>
            <a:srgbClr val="168A5A"/>
          </a:solidFill>
          <a:ln w="12700">
            <a:solidFill>
              <a:srgbClr val="168A5A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65392" y="306324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</a:rPr>
              <a:t>0.823 -&gt; 0.833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685800" y="352044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575"/>
                </a:solidFill>
              </a:rPr>
              <a:t>10%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1947672" y="3520440"/>
            <a:ext cx="4406738" cy="10972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947672" y="3666744"/>
            <a:ext cx="4526280" cy="109728"/>
          </a:xfrm>
          <a:prstGeom prst="rect">
            <a:avLst/>
          </a:prstGeom>
          <a:solidFill>
            <a:srgbClr val="168A5A"/>
          </a:solidFill>
          <a:ln w="12700">
            <a:solidFill>
              <a:srgbClr val="168A5A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65392" y="35295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</a:rPr>
              <a:t>0.811 -&gt; 0.833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685800" y="398678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575"/>
                </a:solidFill>
              </a:rPr>
              <a:t>20%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1947672" y="3986784"/>
            <a:ext cx="4281763" cy="10972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47672" y="4133088"/>
            <a:ext cx="4526280" cy="109728"/>
          </a:xfrm>
          <a:prstGeom prst="rect">
            <a:avLst/>
          </a:prstGeom>
          <a:solidFill>
            <a:srgbClr val="168A5A"/>
          </a:solidFill>
          <a:ln w="12700">
            <a:solidFill>
              <a:srgbClr val="168A5A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65392" y="399592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11827"/>
                </a:solidFill>
              </a:rPr>
              <a:t>0.788 -&gt; 0.833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7635240" y="2011680"/>
            <a:ext cx="1325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44968" y="212140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2318"/>
                </a:solidFill>
              </a:rPr>
              <a:t>0.788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7754112" y="2441448"/>
            <a:ext cx="1088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Before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7754112" y="2633472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6575"/>
                </a:solidFill>
              </a:rPr>
              <a:t>20% corruption</a:t>
            </a:r>
            <a:endParaRPr lang="en-US" sz="760" dirty="0"/>
          </a:p>
        </p:txBody>
      </p:sp>
      <p:sp>
        <p:nvSpPr>
          <p:cNvPr id="36" name="Shape 33"/>
          <p:cNvSpPr/>
          <p:nvPr/>
        </p:nvSpPr>
        <p:spPr>
          <a:xfrm>
            <a:off x="9189720" y="2011680"/>
            <a:ext cx="13258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99448" y="2121408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8A5A"/>
                </a:solidFill>
              </a:rPr>
              <a:t>0.833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9308592" y="2441448"/>
            <a:ext cx="10881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After</a:t>
            </a:r>
            <a:endParaRPr lang="en-US" sz="880" dirty="0"/>
          </a:p>
        </p:txBody>
      </p:sp>
      <p:sp>
        <p:nvSpPr>
          <p:cNvPr id="39" name="Text 36"/>
          <p:cNvSpPr/>
          <p:nvPr/>
        </p:nvSpPr>
        <p:spPr>
          <a:xfrm>
            <a:off x="9308592" y="2633472"/>
            <a:ext cx="10881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6575"/>
                </a:solidFill>
              </a:rPr>
              <a:t>cleaning</a:t>
            </a:r>
            <a:endParaRPr lang="en-US" sz="760" dirty="0"/>
          </a:p>
        </p:txBody>
      </p:sp>
      <p:sp>
        <p:nvSpPr>
          <p:cNvPr id="40" name="Shape 37"/>
          <p:cNvSpPr/>
          <p:nvPr/>
        </p:nvSpPr>
        <p:spPr>
          <a:xfrm>
            <a:off x="7635240" y="3200400"/>
            <a:ext cx="2880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744968" y="3310128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08312"/>
                </a:solidFill>
              </a:rPr>
              <a:t>987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7754112" y="3630168"/>
            <a:ext cx="2642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Rows dropped</a:t>
            </a:r>
            <a:endParaRPr lang="en-US" sz="880" dirty="0"/>
          </a:p>
        </p:txBody>
      </p:sp>
      <p:sp>
        <p:nvSpPr>
          <p:cNvPr id="43" name="Text 40"/>
          <p:cNvSpPr/>
          <p:nvPr/>
        </p:nvSpPr>
        <p:spPr>
          <a:xfrm>
            <a:off x="7754112" y="3822192"/>
            <a:ext cx="2642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6575"/>
                </a:solidFill>
              </a:rPr>
              <a:t>9.87% of 10,000</a:t>
            </a:r>
            <a:endParaRPr lang="en-US" sz="760" dirty="0"/>
          </a:p>
        </p:txBody>
      </p:sp>
      <p:sp>
        <p:nvSpPr>
          <p:cNvPr id="44" name="Shape 41"/>
          <p:cNvSpPr/>
          <p:nvPr/>
        </p:nvSpPr>
        <p:spPr>
          <a:xfrm>
            <a:off x="7635240" y="4434840"/>
            <a:ext cx="2880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744968" y="4526280"/>
            <a:ext cx="2660904" cy="6035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Interpretation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Quality recovery is measurable, but the mechanism is auditably conservative: reject or repair defective records.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thesis_v2_evidence.json; generated_tables.tex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RQ3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13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Downstream results support capability, with explicit task limits.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Metrics are separated by task to avoid pretending RMSE, F1, AUROC, and MSE are comparable.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594360" y="1993392"/>
            <a:ext cx="2468880" cy="411480"/>
          </a:xfrm>
          <a:prstGeom prst="roundRect">
            <a:avLst>
              <a:gd name="adj" fmla="val 13333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084832"/>
            <a:ext cx="224942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3280" y="1993392"/>
            <a:ext cx="2468880" cy="411480"/>
          </a:xfrm>
          <a:prstGeom prst="roundRect">
            <a:avLst>
              <a:gd name="adj" fmla="val 13333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93008" y="2084832"/>
            <a:ext cx="224942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72200" y="1993392"/>
            <a:ext cx="2468880" cy="411480"/>
          </a:xfrm>
          <a:prstGeom prst="roundRect">
            <a:avLst>
              <a:gd name="adj" fmla="val 13333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2084832"/>
            <a:ext cx="224942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Headline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961120" y="1993392"/>
            <a:ext cx="2468880" cy="411480"/>
          </a:xfrm>
          <a:prstGeom prst="roundRect">
            <a:avLst>
              <a:gd name="adj" fmla="val 13333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70848" y="2084832"/>
            <a:ext cx="224942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Scope note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4360" y="2542032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4088" y="2633472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Forecast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3383280" y="2542032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93008" y="2633472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PatchTST density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6172200" y="2542032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81928" y="2633472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</a:rPr>
              <a:t>0.561 RMSE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8961120" y="2542032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70848" y="2633472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vs naive z-RMSE 1.063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594360" y="3200400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088" y="3291840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Classification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3383280" y="3200400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93008" y="3291840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Transformer severity</a:t>
            </a:r>
            <a:endParaRPr lang="en-US" sz="860" dirty="0"/>
          </a:p>
        </p:txBody>
      </p:sp>
      <p:sp>
        <p:nvSpPr>
          <p:cNvPr id="32" name="Shape 29"/>
          <p:cNvSpPr/>
          <p:nvPr/>
        </p:nvSpPr>
        <p:spPr>
          <a:xfrm>
            <a:off x="6172200" y="3200400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81928" y="3291840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</a:rPr>
              <a:t>0.911 macro-F1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8961120" y="3200400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70848" y="3291840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rule-based labels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594360" y="3858768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4088" y="3950208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Anomaly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3383280" y="3858768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493008" y="3950208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TranAD</a:t>
            </a:r>
            <a:endParaRPr lang="en-US" sz="860" dirty="0"/>
          </a:p>
        </p:txBody>
      </p:sp>
      <p:sp>
        <p:nvSpPr>
          <p:cNvPr id="40" name="Shape 37"/>
          <p:cNvSpPr/>
          <p:nvPr/>
        </p:nvSpPr>
        <p:spPr>
          <a:xfrm>
            <a:off x="6172200" y="3858768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281928" y="3950208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</a:rPr>
              <a:t>0.841 AUROC</a:t>
            </a:r>
            <a:endParaRPr lang="en-US" sz="860" dirty="0"/>
          </a:p>
        </p:txBody>
      </p:sp>
      <p:sp>
        <p:nvSpPr>
          <p:cNvPr id="42" name="Shape 39"/>
          <p:cNvSpPr/>
          <p:nvPr/>
        </p:nvSpPr>
        <p:spPr>
          <a:xfrm>
            <a:off x="8961120" y="3858768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070848" y="3950208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injected point anomalies</a:t>
            </a:r>
            <a:endParaRPr lang="en-US" sz="860" dirty="0"/>
          </a:p>
        </p:txBody>
      </p:sp>
      <p:sp>
        <p:nvSpPr>
          <p:cNvPr id="44" name="Shape 41"/>
          <p:cNvSpPr/>
          <p:nvPr/>
        </p:nvSpPr>
        <p:spPr>
          <a:xfrm>
            <a:off x="594360" y="4517136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4088" y="4608576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Imputation</a:t>
            </a:r>
            <a:endParaRPr lang="en-US" sz="860" dirty="0"/>
          </a:p>
        </p:txBody>
      </p:sp>
      <p:sp>
        <p:nvSpPr>
          <p:cNvPr id="46" name="Shape 43"/>
          <p:cNvSpPr/>
          <p:nvPr/>
        </p:nvSpPr>
        <p:spPr>
          <a:xfrm>
            <a:off x="3383280" y="4517136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493008" y="4608576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SAITS</a:t>
            </a:r>
            <a:endParaRPr lang="en-US" sz="860" dirty="0"/>
          </a:p>
        </p:txBody>
      </p:sp>
      <p:sp>
        <p:nvSpPr>
          <p:cNvPr id="48" name="Shape 45"/>
          <p:cNvSpPr/>
          <p:nvPr/>
        </p:nvSpPr>
        <p:spPr>
          <a:xfrm>
            <a:off x="6172200" y="4517136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81928" y="4608576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</a:rPr>
              <a:t>0.640 masked MSE</a:t>
            </a:r>
            <a:endParaRPr lang="en-US" sz="860" dirty="0"/>
          </a:p>
        </p:txBody>
      </p:sp>
      <p:sp>
        <p:nvSpPr>
          <p:cNvPr id="50" name="Shape 47"/>
          <p:cNvSpPr/>
          <p:nvPr/>
        </p:nvSpPr>
        <p:spPr>
          <a:xfrm>
            <a:off x="8961120" y="4517136"/>
            <a:ext cx="24688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070848" y="4608576"/>
            <a:ext cx="22494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vs mean baseline 1.000</a:t>
            </a:r>
            <a:endParaRPr lang="en-US" sz="860" dirty="0"/>
          </a:p>
        </p:txBody>
      </p:sp>
      <p:sp>
        <p:nvSpPr>
          <p:cNvPr id="52" name="Shape 49"/>
          <p:cNvSpPr/>
          <p:nvPr/>
        </p:nvSpPr>
        <p:spPr>
          <a:xfrm>
            <a:off x="868680" y="5349240"/>
            <a:ext cx="10332720" cy="411480"/>
          </a:xfrm>
          <a:prstGeom prst="roundRect">
            <a:avLst>
              <a:gd name="adj" fmla="val 13333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78408" y="5440680"/>
            <a:ext cx="1011326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Defence framing: the models certify task slots inside Flowmatic; they do not establish a new forecasting or classification algorithm.</a:t>
            </a:r>
            <a:endParaRPr lang="en-US" sz="1220" dirty="0"/>
          </a:p>
        </p:txBody>
      </p:sp>
      <p:sp>
        <p:nvSpPr>
          <p:cNvPr id="54" name="Text 51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multi_seed_aggregate.md; generated_baselines.tex; thesis_v2_evidence.json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ABLATION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14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Preparation improved forecasting under a controlled upper-bound experiment.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PatchTST RMSE dropped from 0.9045 to 0.5802 after oracle-style restoration on 20% corrupted data.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822960" y="21854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575"/>
                </a:solidFill>
              </a:rPr>
              <a:t>Prep off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2084832" y="2258568"/>
            <a:ext cx="3931920" cy="1463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16752" y="224942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0.9045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822960" y="28712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6575"/>
                </a:solidFill>
              </a:rPr>
              <a:t>Prep on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2084832" y="2944368"/>
            <a:ext cx="2522167" cy="146304"/>
          </a:xfrm>
          <a:prstGeom prst="rect">
            <a:avLst/>
          </a:prstGeom>
          <a:solidFill>
            <a:srgbClr val="168A5A"/>
          </a:solidFill>
          <a:ln w="12700">
            <a:solidFill>
              <a:srgbClr val="168A5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16752" y="2935224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</a:rPr>
              <a:t>0.5802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23760" y="2011680"/>
            <a:ext cx="1554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33488" y="212140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8A5A"/>
                </a:solidFill>
              </a:rPr>
              <a:t>0.3243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342632" y="2441448"/>
            <a:ext cx="1316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RMSE delta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7342632" y="2633472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6575"/>
                </a:solidFill>
              </a:rPr>
              <a:t>lower is better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9098280" y="2011680"/>
            <a:ext cx="1554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8008" y="212140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08312"/>
                </a:solidFill>
              </a:rPr>
              <a:t>20%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9217152" y="2441448"/>
            <a:ext cx="1316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Corruption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9217152" y="2633472"/>
            <a:ext cx="13167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6575"/>
                </a:solidFill>
              </a:rPr>
              <a:t>controlled input</a:t>
            </a:r>
            <a:endParaRPr lang="en-US" sz="760" dirty="0"/>
          </a:p>
        </p:txBody>
      </p:sp>
      <p:sp>
        <p:nvSpPr>
          <p:cNvPr id="26" name="Shape 23"/>
          <p:cNvSpPr/>
          <p:nvPr/>
        </p:nvSpPr>
        <p:spPr>
          <a:xfrm>
            <a:off x="914400" y="4069080"/>
            <a:ext cx="4937760" cy="804672"/>
          </a:xfrm>
          <a:prstGeom prst="roundRect">
            <a:avLst>
              <a:gd name="adj" fmla="val 6818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4128" y="4160520"/>
            <a:ext cx="471830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</a:rPr>
              <a:t>What it proves</a:t>
            </a:r>
            <a:endParaRPr lang="en-US" sz="1280" dirty="0"/>
          </a:p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</a:rPr>
              <a:t>Restoring lost information improves downstream prediction under controlled corruption.</a:t>
            </a:r>
            <a:endParaRPr lang="en-US" sz="1280" dirty="0"/>
          </a:p>
        </p:txBody>
      </p:sp>
      <p:sp>
        <p:nvSpPr>
          <p:cNvPr id="28" name="Shape 25"/>
          <p:cNvSpPr/>
          <p:nvPr/>
        </p:nvSpPr>
        <p:spPr>
          <a:xfrm>
            <a:off x="6309360" y="4069080"/>
            <a:ext cx="4937760" cy="804672"/>
          </a:xfrm>
          <a:prstGeom prst="roundRect">
            <a:avLst>
              <a:gd name="adj" fmla="val 6818"/>
            </a:avLst>
          </a:prstGeom>
          <a:solidFill>
            <a:srgbClr val="FDECEC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19088" y="4160520"/>
            <a:ext cx="4718304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</a:rPr>
              <a:t>What it does not prove</a:t>
            </a:r>
            <a:endParaRPr lang="en-US" sz="1280" dirty="0"/>
          </a:p>
          <a:p>
            <a:pPr indent="0" marL="0">
              <a:buNone/>
            </a:pPr>
            <a:r>
              <a:rPr lang="en-US" sz="1280" b="1" dirty="0">
                <a:solidFill>
                  <a:srgbClr val="111827"/>
                </a:solidFill>
              </a:rPr>
              <a:t>A deployable imputation method will recover the same amount on live municipal data.</a:t>
            </a:r>
            <a:endParaRPr lang="en-US" sz="1280" dirty="0"/>
          </a:p>
        </p:txBody>
      </p:sp>
      <p:sp>
        <p:nvSpPr>
          <p:cNvPr id="30" name="Text 27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thesis_v2_evidence.json; generated_prep_ablation.tex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IMPLEMENTATION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15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prototype works, but the measured boundary matters.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Use core processing and inference-latency numbers without turning them into production SLA claims.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594360" y="1920240"/>
            <a:ext cx="1874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029968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91"/>
                </a:solidFill>
              </a:rPr>
              <a:t>406 ms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13232" y="2350008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Batch processing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713232" y="2542032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6575"/>
                </a:solidFill>
              </a:rPr>
              <a:t>30,000-row Astana export</a:t>
            </a:r>
            <a:endParaRPr lang="en-US" sz="760" dirty="0"/>
          </a:p>
        </p:txBody>
      </p:sp>
      <p:sp>
        <p:nvSpPr>
          <p:cNvPr id="16" name="Shape 13"/>
          <p:cNvSpPr/>
          <p:nvPr/>
        </p:nvSpPr>
        <p:spPr>
          <a:xfrm>
            <a:off x="2743200" y="1920240"/>
            <a:ext cx="1874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52928" y="2029968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8A5A"/>
                </a:solidFill>
              </a:rPr>
              <a:t>&lt;2 ms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2862072" y="2350008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Compact inference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2862072" y="2542032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6575"/>
                </a:solidFill>
              </a:rPr>
              <a:t>single-event benchmark</a:t>
            </a:r>
            <a:endParaRPr lang="en-US" sz="760" dirty="0"/>
          </a:p>
        </p:txBody>
      </p:sp>
      <p:sp>
        <p:nvSpPr>
          <p:cNvPr id="20" name="Shape 17"/>
          <p:cNvSpPr/>
          <p:nvPr/>
        </p:nvSpPr>
        <p:spPr>
          <a:xfrm>
            <a:off x="4892040" y="1920240"/>
            <a:ext cx="1874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01768" y="2029968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08312"/>
                </a:solidFill>
              </a:rPr>
              <a:t>Docker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5010912" y="2350008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</a:rPr>
              <a:t>Prototype stack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010912" y="2542032"/>
            <a:ext cx="16367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5B6575"/>
                </a:solidFill>
              </a:rPr>
              <a:t>local Compose topology</a:t>
            </a:r>
            <a:endParaRPr lang="en-US" sz="760" dirty="0"/>
          </a:p>
        </p:txBody>
      </p:sp>
      <p:pic>
        <p:nvPicPr>
          <p:cNvPr id="24" name="Image 1" descr="C:\Users\BG\Desktop\flowmatic\thesis\Flowmatic-Thesis-v3\figures\screenshots\02-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63240"/>
            <a:ext cx="3246120" cy="1691640"/>
          </a:xfrm>
          <a:prstGeom prst="rect">
            <a:avLst/>
          </a:prstGeom>
        </p:spPr>
      </p:pic>
      <p:pic>
        <p:nvPicPr>
          <p:cNvPr id="25" name="Image 2" descr="C:\Users\BG\Desktop\flowmatic\thesis\Flowmatic-Thesis-v3\figures\screenshots\08-smart-city-live-workbe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063240"/>
            <a:ext cx="3246120" cy="1691640"/>
          </a:xfrm>
          <a:prstGeom prst="rect">
            <a:avLst/>
          </a:prstGeom>
        </p:spPr>
      </p:pic>
      <p:pic>
        <p:nvPicPr>
          <p:cNvPr id="26" name="Image 3" descr="C:\Users\BG\Desktop\flowmatic\thesis\Flowmatic-Thesis-v3\figures\screenshots\10-workflow-grap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063240"/>
            <a:ext cx="3246120" cy="169164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315200" y="1920240"/>
            <a:ext cx="3840480" cy="841248"/>
          </a:xfrm>
          <a:prstGeom prst="roundRect">
            <a:avLst>
              <a:gd name="adj" fmla="val 6522"/>
            </a:avLst>
          </a:prstGeom>
          <a:solidFill>
            <a:srgbClr val="FDECEC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424928" y="2011680"/>
            <a:ext cx="3621024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111827"/>
                </a:solidFill>
              </a:rPr>
              <a:t>Not claimed</a:t>
            </a:r>
            <a:endParaRPr lang="en-US" sz="1160" dirty="0"/>
          </a:p>
          <a:p>
            <a:pPr indent="0" marL="0">
              <a:buNone/>
            </a:pPr>
            <a:r>
              <a:rPr lang="en-US" sz="1160" b="1" dirty="0">
                <a:solidFill>
                  <a:srgbClr val="111827"/>
                </a:solidFill>
              </a:rPr>
              <a:t>No HA, SLA, penetration test, formal municipal deployment, or concurrency p95/p99 study.</a:t>
            </a:r>
            <a:endParaRPr lang="en-US" sz="1160" dirty="0"/>
          </a:p>
        </p:txBody>
      </p:sp>
      <p:sp>
        <p:nvSpPr>
          <p:cNvPr id="29" name="Text 23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UPLOAD_PIPELINE_REPORT.md; streaming_benchmark.csv; thesis screenshots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CLOSURE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16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research question has evidence and an explicit scope limit.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640080" y="196596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2057400"/>
            <a:ext cx="69494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RQ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20240" y="196596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29968" y="2057400"/>
            <a:ext cx="270662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Evidence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212080" y="1965960"/>
            <a:ext cx="2514600" cy="411480"/>
          </a:xfrm>
          <a:prstGeom prst="roundRect">
            <a:avLst>
              <a:gd name="adj" fmla="val 13333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21808" y="2057400"/>
            <a:ext cx="229514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Outcome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138160" y="1965960"/>
            <a:ext cx="2971800" cy="411480"/>
          </a:xfrm>
          <a:prstGeom prst="roundRect">
            <a:avLst>
              <a:gd name="adj" fmla="val 13333"/>
            </a:avLst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47888" y="2057400"/>
            <a:ext cx="2752344" cy="265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Scope limit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" y="2542032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" y="2633472"/>
            <a:ext cx="6949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RQ1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1920240" y="2542032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029968" y="2633472"/>
            <a:ext cx="27066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DQI before/after stress test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5212080" y="2542032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21808" y="2633472"/>
            <a:ext cx="22951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</a:rPr>
              <a:t>Supported under corruption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8138160" y="2542032"/>
            <a:ext cx="297180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47888" y="2633472"/>
            <a:ext cx="27523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clean files show ceiling effect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640080" y="3218688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" y="3310128"/>
            <a:ext cx="6949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RQ2</a:t>
            </a:r>
            <a:endParaRPr lang="en-US" sz="860" dirty="0"/>
          </a:p>
        </p:txBody>
      </p:sp>
      <p:sp>
        <p:nvSpPr>
          <p:cNvPr id="29" name="Shape 26"/>
          <p:cNvSpPr/>
          <p:nvPr/>
        </p:nvSpPr>
        <p:spPr>
          <a:xfrm>
            <a:off x="1920240" y="3218688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29968" y="3310128"/>
            <a:ext cx="27066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406 ms batch + smart-city demo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5212080" y="3218688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21808" y="3310128"/>
            <a:ext cx="22951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</a:rPr>
              <a:t>Supported for prototype</a:t>
            </a:r>
            <a:endParaRPr lang="en-US" sz="860" dirty="0"/>
          </a:p>
        </p:txBody>
      </p:sp>
      <p:sp>
        <p:nvSpPr>
          <p:cNvPr id="33" name="Shape 30"/>
          <p:cNvSpPr/>
          <p:nvPr/>
        </p:nvSpPr>
        <p:spPr>
          <a:xfrm>
            <a:off x="8138160" y="3218688"/>
            <a:ext cx="29718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47888" y="3310128"/>
            <a:ext cx="27523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Astana API validation only</a:t>
            </a:r>
            <a:endParaRPr lang="en-US" sz="860" dirty="0"/>
          </a:p>
        </p:txBody>
      </p:sp>
      <p:sp>
        <p:nvSpPr>
          <p:cNvPr id="35" name="Shape 32"/>
          <p:cNvSpPr/>
          <p:nvPr/>
        </p:nvSpPr>
        <p:spPr>
          <a:xfrm>
            <a:off x="640080" y="3895344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9808" y="3986784"/>
            <a:ext cx="6949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RQ3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1920240" y="3895344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029968" y="3986784"/>
            <a:ext cx="27066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baselines, portfolio, ablations</a:t>
            </a:r>
            <a:endParaRPr lang="en-US" sz="860" dirty="0"/>
          </a:p>
        </p:txBody>
      </p:sp>
      <p:sp>
        <p:nvSpPr>
          <p:cNvPr id="39" name="Shape 36"/>
          <p:cNvSpPr/>
          <p:nvPr/>
        </p:nvSpPr>
        <p:spPr>
          <a:xfrm>
            <a:off x="5212080" y="3895344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21808" y="3986784"/>
            <a:ext cx="22951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</a:rPr>
              <a:t>Supported by task</a:t>
            </a:r>
            <a:endParaRPr lang="en-US" sz="860" dirty="0"/>
          </a:p>
        </p:txBody>
      </p:sp>
      <p:sp>
        <p:nvSpPr>
          <p:cNvPr id="41" name="Shape 38"/>
          <p:cNvSpPr/>
          <p:nvPr/>
        </p:nvSpPr>
        <p:spPr>
          <a:xfrm>
            <a:off x="8138160" y="3895344"/>
            <a:ext cx="2971800" cy="438912"/>
          </a:xfrm>
          <a:prstGeom prst="roundRect">
            <a:avLst>
              <a:gd name="adj" fmla="val 12500"/>
            </a:avLst>
          </a:prstGeom>
          <a:solidFill>
            <a:srgbClr val="F9FB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47888" y="3986784"/>
            <a:ext cx="27523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limited baselines / n=3</a:t>
            </a:r>
            <a:endParaRPr lang="en-US" sz="860" dirty="0"/>
          </a:p>
        </p:txBody>
      </p:sp>
      <p:sp>
        <p:nvSpPr>
          <p:cNvPr id="43" name="Shape 40"/>
          <p:cNvSpPr/>
          <p:nvPr/>
        </p:nvSpPr>
        <p:spPr>
          <a:xfrm>
            <a:off x="640080" y="4572000"/>
            <a:ext cx="914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9808" y="4663440"/>
            <a:ext cx="6949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RQ4</a:t>
            </a:r>
            <a:endParaRPr lang="en-US" sz="860" dirty="0"/>
          </a:p>
        </p:txBody>
      </p:sp>
      <p:sp>
        <p:nvSpPr>
          <p:cNvPr id="45" name="Shape 42"/>
          <p:cNvSpPr/>
          <p:nvPr/>
        </p:nvSpPr>
        <p:spPr>
          <a:xfrm>
            <a:off x="1920240" y="4572000"/>
            <a:ext cx="29260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029968" y="4663440"/>
            <a:ext cx="270662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140-event routing replay</a:t>
            </a:r>
            <a:endParaRPr lang="en-US" sz="860" dirty="0"/>
          </a:p>
        </p:txBody>
      </p:sp>
      <p:sp>
        <p:nvSpPr>
          <p:cNvPr id="47" name="Shape 44"/>
          <p:cNvSpPr/>
          <p:nvPr/>
        </p:nvSpPr>
        <p:spPr>
          <a:xfrm>
            <a:off x="5212080" y="4572000"/>
            <a:ext cx="2514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21808" y="4663440"/>
            <a:ext cx="22951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11827"/>
                </a:solidFill>
              </a:rPr>
              <a:t>Supported as conformance</a:t>
            </a:r>
            <a:endParaRPr lang="en-US" sz="860" dirty="0"/>
          </a:p>
        </p:txBody>
      </p:sp>
      <p:sp>
        <p:nvSpPr>
          <p:cNvPr id="49" name="Shape 46"/>
          <p:cNvSpPr/>
          <p:nvPr/>
        </p:nvSpPr>
        <p:spPr>
          <a:xfrm>
            <a:off x="8138160" y="4572000"/>
            <a:ext cx="29718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247888" y="4663440"/>
            <a:ext cx="275234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</a:rPr>
              <a:t>not expert-labelled accuracy</a:t>
            </a:r>
            <a:endParaRPr lang="en-US" sz="860" dirty="0"/>
          </a:p>
        </p:txBody>
      </p:sp>
      <p:sp>
        <p:nvSpPr>
          <p:cNvPr id="51" name="Text 48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v3 Table 5.19 / Sec. 5.9</a:t>
            </a:r>
            <a:endParaRPr lang="en-US" sz="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CONTRIBUTION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17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contribution is the integrated implementation and thesis-new evaluation package.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Prior publications are supporting context; thesis claims are tied to new or extended artefacts.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640080" y="1920240"/>
            <a:ext cx="3200400" cy="2331720"/>
          </a:xfrm>
          <a:prstGeom prst="roundRect">
            <a:avLst>
              <a:gd name="adj" fmla="val 2353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2011680"/>
            <a:ext cx="2980944" cy="2185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Personal thesis work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Architecture integration, backend/frontend modules, data-quality and routing logic, experiment scripts, evidence audit, thesis narrative.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251960" y="1920240"/>
            <a:ext cx="32004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61688" y="2011680"/>
            <a:ext cx="2980944" cy="2185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Shared / prior work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Co-authored publications, standard neural architectures, open-source frameworks, and source data constraints.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7863840" y="1920240"/>
            <a:ext cx="3200400" cy="2331720"/>
          </a:xfrm>
          <a:prstGeom prst="roundRect">
            <a:avLst>
              <a:gd name="adj" fmla="val 2353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73568" y="2011680"/>
            <a:ext cx="2980944" cy="2185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Thesis-new evidence</a:t>
            </a:r>
            <a:endParaRPr lang="en-US" sz="1220" dirty="0"/>
          </a:p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</a:rPr>
              <a:t>Stress tests, baseline comparisons, ablation, routing-conformance evaluation, limitation framing, reproducibility pack.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1097280" y="5029200"/>
            <a:ext cx="969264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07008" y="5120640"/>
            <a:ext cx="947318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0B3D91"/>
                </a:solidFill>
              </a:rPr>
              <a:t>Defence line: the publications show continuity; the thesis is defended through the new evaluated preparation-to-inference evidence chain.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v3 Appendix A; review W1/S05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CONCLUSION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18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Flowmatic is an evaluated research prototype for auditable transport-data preparation.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The strongest claim is narrow and defensible: controlled preparation evidence can be linked to downstream model behaviour.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640080" y="1920240"/>
            <a:ext cx="3200400" cy="1965960"/>
          </a:xfrm>
          <a:prstGeom prst="roundRect">
            <a:avLst>
              <a:gd name="adj" fmla="val 2791"/>
            </a:avLst>
          </a:prstGeom>
          <a:solidFill>
            <a:srgbClr val="E9F7EF"/>
          </a:solidFill>
          <a:ln w="12700">
            <a:solidFill>
              <a:srgbClr val="168A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2011680"/>
            <a:ext cx="2980944" cy="1819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11827"/>
                </a:solidFill>
              </a:rPr>
              <a:t>Achieved</a:t>
            </a:r>
            <a:endParaRPr lang="en-US" sz="1260" dirty="0"/>
          </a:p>
          <a:p>
            <a:pPr indent="0" marL="0">
              <a:buNone/>
            </a:pPr>
            <a:r>
              <a:rPr lang="en-US" sz="1260" b="1" dirty="0">
                <a:solidFill>
                  <a:srgbClr val="111827"/>
                </a:solidFill>
              </a:rPr>
              <a:t>Working prototype, DQI workflow, model registry, inference service, reproducible experiments.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4251960" y="1920240"/>
            <a:ext cx="3200400" cy="1965960"/>
          </a:xfrm>
          <a:prstGeom prst="roundRect">
            <a:avLst>
              <a:gd name="adj" fmla="val 2791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61688" y="2011680"/>
            <a:ext cx="2980944" cy="1819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11827"/>
                </a:solidFill>
              </a:rPr>
              <a:t>Evidence supports</a:t>
            </a:r>
            <a:endParaRPr lang="en-US" sz="1260" dirty="0"/>
          </a:p>
          <a:p>
            <a:pPr indent="0" marL="0">
              <a:buNone/>
            </a:pPr>
            <a:r>
              <a:rPr lang="en-US" sz="1260" b="1" dirty="0">
                <a:solidFill>
                  <a:srgbClr val="111827"/>
                </a:solidFill>
              </a:rPr>
              <a:t>Quality recovery under controlled defects, model-slot capability, and policy-conformant routing.</a:t>
            </a:r>
            <a:endParaRPr lang="en-US" sz="1260" dirty="0"/>
          </a:p>
        </p:txBody>
      </p:sp>
      <p:sp>
        <p:nvSpPr>
          <p:cNvPr id="16" name="Shape 13"/>
          <p:cNvSpPr/>
          <p:nvPr/>
        </p:nvSpPr>
        <p:spPr>
          <a:xfrm>
            <a:off x="7863840" y="1920240"/>
            <a:ext cx="3200400" cy="1965960"/>
          </a:xfrm>
          <a:prstGeom prst="roundRect">
            <a:avLst>
              <a:gd name="adj" fmla="val 2791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73568" y="2011680"/>
            <a:ext cx="2980944" cy="1819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111827"/>
                </a:solidFill>
              </a:rPr>
              <a:t>Remaining work</a:t>
            </a:r>
            <a:endParaRPr lang="en-US" sz="1260" dirty="0"/>
          </a:p>
          <a:p>
            <a:pPr indent="0" marL="0">
              <a:buNone/>
            </a:pPr>
            <a:r>
              <a:rPr lang="en-US" sz="1260" b="1" dirty="0">
                <a:solidFill>
                  <a:srgbClr val="111827"/>
                </a:solidFill>
              </a:rPr>
              <a:t>Real external data, independent labels, deployable imputation, operator study, security/scale tests.</a:t>
            </a:r>
            <a:endParaRPr lang="en-US" sz="1260" dirty="0"/>
          </a:p>
        </p:txBody>
      </p:sp>
      <p:sp>
        <p:nvSpPr>
          <p:cNvPr id="18" name="Text 15"/>
          <p:cNvSpPr/>
          <p:nvPr/>
        </p:nvSpPr>
        <p:spPr>
          <a:xfrm>
            <a:off x="822960" y="4754880"/>
            <a:ext cx="105156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91"/>
                </a:solidFill>
              </a:rPr>
              <a:t>Core statement: Flowmatic makes preparation measurable, reproducible, and connected to downstream analytics - with limitations visible rather than hidden.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v3 Ch. 6; review final verdict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8A6C9"/>
          </a:solidFill>
          <a:ln w="12700">
            <a:solidFill>
              <a:srgbClr val="08A6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2033"/>
          </a:solidFill>
          <a:ln w="12700">
            <a:solidFill>
              <a:srgbClr val="162033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DEBFF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A6C9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2B3B5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C4D8"/>
                </a:solidFill>
              </a:rPr>
              <a:t>19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C4D8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31520" y="1874520"/>
            <a:ext cx="107899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 slides for commission questions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749808" y="3246120"/>
            <a:ext cx="89611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5E4F6"/>
                </a:solidFill>
              </a:rPr>
              <a:t>Definitions, reconciliations, evidence tables, architecture limits, and exact numbers.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20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DQI definitions and formula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why these dimensions and why equal weights.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Composite DQI = sum(w_i Q_i) / sum(w_i), Q_i in [0,1]. Default weights are equal. Dimensions: completeness, consistency, accuracy, timeliness, uniqueness, validity.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why these dimensions and why equal weights.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Thesis Sec. 3.6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Thesis Sec. 3.6</a:t>
            </a:r>
            <a:endParaRPr lang="en-US" sz="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21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100/100 vs stress-test 0.833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DQI inconsistency question.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Clean batch 100/100 is the platform quality score for a pristine 30,000-row upload. Stress-test 0.833 is the composite formula where timeliness is zero in that generated sample.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DQI inconsistency question.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Table 4.1; Table 5.9; evidence JSON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Table 4.1; Table 5.9; evidence JSON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22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facts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why trust semi-synthetic data.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Astana: 30,000 semi-synthetic NDA-derived rows. HF weather, ETT, traffic graph: offline neural bundles. Simulator: HTTP/WebSocket events. Labels and anomalies are generated or injected where stated.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why trust semi-synthetic data.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Appendix C; Sec. 5.2.1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Appendix C; Sec. 5.2.1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23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Split, leakage, uncertainty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n=3 CI and leakage questions.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Temporal 70/15/15 split; scalers fit on training data; three seeds 42, 7, 2026. Treat +/- values as descriptive multi-seed variability, not strong significance testing.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n=3 CI and leakage questions.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Sec. 5.2.2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Sec. 5.2.2</a:t>
            </a:r>
            <a:endParaRPr lang="en-US" sz="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24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table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compared to what?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Naive z-RMSE 1.063 vs PatchTST 0.5609; majority 0.317, logistic 0.449, random forest 0.627, Transformer 0.911; mean imputation 1.000 vs SAITS 0.640.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compared to what?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generated_baselines.tex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generated_baselines.tex</a:t>
            </a:r>
            <a:endParaRPr lang="en-US" sz="7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25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Neural portfolio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model zoo and registry questions.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Seven primary slots plus auxiliary iTransformer: PatchTST, TranAD, TimesBlock, STGCN, SAITS, Transformer classifier, DLinear, iTransformer speed slot.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model zoo and registry questions.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production_portfolio.json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production_portfolio.json</a:t>
            </a:r>
            <a:endParaRPr lang="en-US" sz="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iTransformer interpretation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why keep weak model.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Level-speed RMSE is near 1.0; first-difference retune reaches 0.7586. The slot is retained as auxiliary/deployment parity, not as a headline success.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why keep weak model.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generated_itransformer_retrain.tex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generated_itransformer_retrain.tex</a:t>
            </a:r>
            <a:endParaRPr lang="en-US" sz="7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27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 scope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is 100% circular?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140 simulator events: 7 scenarios x 20 events. 100% policy conformance checks implementation consistency against documented scenario oracles; not optimal routing accuracy.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is 100% circular?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generated_tables.tex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generated_tables.tex</a:t>
            </a:r>
            <a:endParaRPr lang="en-US" sz="7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28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Oracle restoration ablation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did you use ground truth?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20% corrupted Astana density, PatchTST RMSE 0.9045 -&gt; 0.5802. This is an upper-bound controlled information-recovery experiment, not deployable imputation proof.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did you use ground truth?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generated_prep_ablation.tex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generated_prep_ablation.tex</a:t>
            </a:r>
            <a:endParaRPr lang="en-US" sz="7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29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 publication vs thesis-new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overlap with [15].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Prior work: concept/platform continuity and co-authored publications. Thesis-new: stress tests, baselines, ablation, 140-event routing check, reproducibility and limitation framing.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overlap with [15].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Appendix A; Sec. 2.13.1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Appendix A; Sec. 2.13.1</a:t>
            </a:r>
            <a:endParaRPr lang="en-US" sz="7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30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Personal contribution matrix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what exactly did you do?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Own work: integration, implementation, scripts, experiments, analysis, defence framing. Shared: supervisor guidance, co-authored papers, public models/libraries, NDA-derived data source.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what exactly did you do?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Appendix A; repository evidence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Appendix A; repository evidence</a:t>
            </a:r>
            <a:endParaRPr lang="en-US" sz="7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31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roles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why this stack?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Vue for workbench; NestJS for API; PostgreSQL for metadata; MinIO for object storage; RabbitMQ for jobs; Python service for TorchScript inference; HF for model publication.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why this stack?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docker-compose.yml; Prisma schema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docker-compose.yml; Prisma schema</a:t>
            </a:r>
            <a:endParaRPr lang="en-US" sz="72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32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Codebase/module map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walk through the code.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Backend: auth, ingestion, quality, cleaning, export, smart-city, registry/router. Frontend: upload, connectors, dashboard, insights. Services: simulator, inference, federated demo.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walk through the code.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repo map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repo map</a:t>
            </a:r>
            <a:endParaRPr lang="en-US" sz="7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33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handling limits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production architecture attack.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Current prototype has queues and storage, but no full DLQ/retry/idempotency proof, no p95/p99 concurrency benchmark, and preview loading can buffer large result files.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production architecture attack.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code audit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code audit</a:t>
            </a:r>
            <a:endParaRPr lang="en-US" sz="7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34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production roadmap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production readiness.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Current auth and org scoping exist. Needed before municipal pilot: threat model, upload sandboxing, model artifact validation, secret governance, HA, backup/restore, audit logs.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production readiness.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Prisma schema; security middleware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Prisma schema; security middleware</a:t>
            </a:r>
            <a:endParaRPr lang="en-US" sz="7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6EEF8"/>
          </a:solidFill>
          <a:ln w="12700">
            <a:solidFill>
              <a:srgbClr val="E6EEF8">
                <a:alpha val="0"/>
              </a:srgbClr>
            </a:solidFill>
            <a:prstDash val="solid"/>
          </a:ln>
        </p:spPr>
      </p:sp>
      <p:pic>
        <p:nvPicPr>
          <p:cNvPr id="4" name="Image 0" descr="C:\Users\BG\Desktop\flowmatic\thesis\Flowmatic-Thesis-v3\logos\AIT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92608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3383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ASTANA IT UNIVERSITY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4048" y="841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3D91"/>
                </a:solidFill>
              </a:rPr>
              <a:t>BACKUP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84048" y="1097280"/>
            <a:ext cx="1141171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37392" y="6711696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575"/>
                </a:solidFill>
              </a:rPr>
              <a:t>35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84048" y="6711696"/>
            <a:ext cx="3017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575"/>
                </a:solidFill>
              </a:rPr>
              <a:t>Flowmatic master's thesis defence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4048" y="1197864"/>
            <a:ext cx="1133856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Reproducibility and exact numbers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02336" y="1755648"/>
            <a:ext cx="10881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575"/>
                </a:solidFill>
              </a:rPr>
              <a:t>Pre-empts: exact-number questions.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31520" y="2148840"/>
            <a:ext cx="107442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2240280"/>
            <a:ext cx="10524744" cy="19110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Exact numbers to remember: 30,000 rows; 406 ms; DQI +0.045 at 20%; 987 rows dropped; PatchTST 0.5609; F1 0.911; AUROC 0.8411; routing 140/140.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4DF"/>
          </a:solidFill>
          <a:ln w="12700">
            <a:solidFill>
              <a:srgbClr val="D083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</a:rPr>
              <a:t>Pre-empts: exact-number questions.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72200" y="4800600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1928" y="4892040"/>
            <a:ext cx="48554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3D91"/>
                </a:solidFill>
              </a:rPr>
              <a:t>Source: evidence JSON; tables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6711696"/>
            <a:ext cx="3931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B6575"/>
                </a:solidFill>
              </a:rPr>
              <a:t>evidence JSON; tables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Astana IT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Flowmatic Master Thesis Defence</dc:title>
  <dc:subject>Flowmatic master's thesis defence</dc:subject>
  <dc:creator>Ramazan Seiitbek</dc:creator>
  <cp:lastModifiedBy>Ramazan Seiitbek</cp:lastModifiedBy>
  <cp:revision>1</cp:revision>
  <dcterms:created xsi:type="dcterms:W3CDTF">2026-06-12T10:08:38Z</dcterms:created>
  <dcterms:modified xsi:type="dcterms:W3CDTF">2026-06-12T10:08:38Z</dcterms:modified>
</cp:coreProperties>
</file>